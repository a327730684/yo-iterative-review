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0" r:id="rId3"/>
    <p:sldId id="265" r:id="rId4"/>
    <p:sldId id="256" r:id="rId5"/>
    <p:sldId id="258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3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1"/>
          <a:srcRect t="-2703" b="-2703"/>
          <a:stretch>
            <a:fillRect/>
          </a:stretch>
        </p:blipFill>
        <p:spPr>
          <a:xfrm>
            <a:off x="-108585" y="80010"/>
            <a:ext cx="4451350" cy="6628765"/>
          </a:xfrm>
          <a:prstGeom prst="roundRect">
            <a:avLst>
              <a:gd name="adj" fmla="val 4000"/>
            </a:avLst>
          </a:prstGeom>
          <a:ln>
            <a:noFill/>
          </a:ln>
          <a:effectLst/>
        </p:spPr>
      </p:pic>
      <p:sp>
        <p:nvSpPr>
          <p:cNvPr id="4" name="title"/>
          <p:cNvSpPr txBox="1"/>
          <p:nvPr/>
        </p:nvSpPr>
        <p:spPr>
          <a:xfrm>
            <a:off x="4419600" y="330200"/>
            <a:ext cx="74676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11827"/>
                </a:solidFill>
                <a:latin typeface="MiSans" charset="-122"/>
                <a:ea typeface="MiSans" charset="-122"/>
              </a:rPr>
              <a:t>从提示词到循环系统：AI 应用的演进之路</a:t>
            </a:r>
            <a:endParaRPr lang="en-US" sz="2100" noProof="1"/>
          </a:p>
        </p:txBody>
      </p:sp>
      <p:sp>
        <p:nvSpPr>
          <p:cNvPr id="5" name="subtitle"/>
          <p:cNvSpPr txBox="1"/>
          <p:nvPr/>
        </p:nvSpPr>
        <p:spPr>
          <a:xfrm>
            <a:off x="4419600" y="762000"/>
            <a:ext cx="746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6B7280"/>
                </a:solidFill>
                <a:latin typeface="MiSans" charset="-122"/>
                <a:ea typeface="MiSans" charset="-122"/>
              </a:rPr>
              <a:t>四个阶段，逐层扩大“可控性”边界：</a:t>
            </a:r>
            <a:endParaRPr lang="en-US" sz="1300" noProof="1"/>
          </a:p>
        </p:txBody>
      </p:sp>
      <p:sp>
        <p:nvSpPr>
          <p:cNvPr id="6" name="stage-1"/>
          <p:cNvSpPr txBox="1"/>
          <p:nvPr/>
        </p:nvSpPr>
        <p:spPr>
          <a:xfrm>
            <a:off x="4419600" y="1117600"/>
            <a:ext cx="746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2563EB"/>
                </a:solidFill>
                <a:latin typeface="MiSans" charset="-122"/>
                <a:ea typeface="MiSans" charset="-122"/>
              </a:rPr>
              <a:t>① Prompt Engineering｜怎么问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6B7280"/>
                </a:solidFill>
                <a:latin typeface="MiSans" charset="-122"/>
                <a:ea typeface="MiSans" charset="-122"/>
              </a:rPr>
              <a:t>一句话的优化：写好提示词，让 AI 答得更好</a:t>
            </a:r>
            <a:endParaRPr lang="en-US" sz="1600" noProof="1"/>
          </a:p>
        </p:txBody>
      </p:sp>
      <p:sp>
        <p:nvSpPr>
          <p:cNvPr id="7" name="stage-2"/>
          <p:cNvSpPr txBox="1"/>
          <p:nvPr/>
        </p:nvSpPr>
        <p:spPr>
          <a:xfrm>
            <a:off x="4419600" y="1727200"/>
            <a:ext cx="746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6A34A"/>
                </a:solidFill>
                <a:latin typeface="MiSans" charset="-122"/>
                <a:ea typeface="MiSans" charset="-122"/>
              </a:rPr>
              <a:t>② Context Engineering｜给什么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6B7280"/>
                </a:solidFill>
                <a:latin typeface="MiSans" charset="-122"/>
                <a:ea typeface="MiSans" charset="-122"/>
              </a:rPr>
              <a:t>信息包的优化：目标、背景、示例、约束、历史，组织好再喂给 AI</a:t>
            </a:r>
            <a:endParaRPr lang="en-US" sz="1600" noProof="1"/>
          </a:p>
        </p:txBody>
      </p:sp>
      <p:sp>
        <p:nvSpPr>
          <p:cNvPr id="8" name="stage-3"/>
          <p:cNvSpPr txBox="1"/>
          <p:nvPr/>
        </p:nvSpPr>
        <p:spPr>
          <a:xfrm>
            <a:off x="4419600" y="2336800"/>
            <a:ext cx="746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EA8C1F"/>
                </a:solidFill>
                <a:latin typeface="MiSans" charset="-122"/>
                <a:ea typeface="MiSans" charset="-122"/>
              </a:rPr>
              <a:t>③ Harness Engineering｜怎么接入世界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6B7280"/>
                </a:solidFill>
                <a:latin typeface="MiSans" charset="-122"/>
                <a:ea typeface="MiSans" charset="-122"/>
              </a:rPr>
              <a:t>系统的优化：工具集成 + 数据连接 + 流程控制，给 AI 装上手脚</a:t>
            </a:r>
            <a:endParaRPr lang="en-US" sz="1600" noProof="1"/>
          </a:p>
        </p:txBody>
      </p:sp>
      <p:sp>
        <p:nvSpPr>
          <p:cNvPr id="9" name="stage-4"/>
          <p:cNvSpPr txBox="1"/>
          <p:nvPr/>
        </p:nvSpPr>
        <p:spPr>
          <a:xfrm>
            <a:off x="4565650" y="2893695"/>
            <a:ext cx="7467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7C3AED"/>
                </a:solidFill>
                <a:latin typeface="MiSans" charset="-122"/>
                <a:ea typeface="MiSans" charset="-122"/>
              </a:rPr>
              <a:t>④ Loop Engineering｜怎么持续运转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200" noProof="1">
                <a:solidFill>
                  <a:srgbClr val="6B7280"/>
                </a:solidFill>
                <a:latin typeface="MiSans" charset="-122"/>
                <a:ea typeface="MiSans" charset="-122"/>
              </a:rPr>
              <a:t>闭环的优化：目标 → 计划执行 → 评估验证 → 反思改进 → 记忆沉淀 → 继续循环</a:t>
            </a:r>
            <a:endParaRPr lang="en-US" sz="1600" noProof="1"/>
          </a:p>
        </p:txBody>
      </p:sp>
      <p:sp>
        <p:nvSpPr>
          <p:cNvPr id="10" name="summary-card"/>
          <p:cNvSpPr/>
          <p:nvPr/>
        </p:nvSpPr>
        <p:spPr>
          <a:xfrm>
            <a:off x="4419600" y="3708400"/>
            <a:ext cx="7467600" cy="2692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EF0F3"/>
            </a:solidFill>
          </a:ln>
        </p:spPr>
      </p:sp>
      <p:sp>
        <p:nvSpPr>
          <p:cNvPr id="11" name="summary-line1"/>
          <p:cNvSpPr txBox="1"/>
          <p:nvPr/>
        </p:nvSpPr>
        <p:spPr>
          <a:xfrm>
            <a:off x="4673600" y="3911600"/>
            <a:ext cx="69596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11827"/>
                </a:solidFill>
                <a:latin typeface="MiSans" charset="-122"/>
                <a:ea typeface="MiSans" charset="-122"/>
              </a:rPr>
              <a:t>演进主线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1F2937"/>
                </a:solidFill>
                <a:latin typeface="MiSans" charset="-122"/>
                <a:ea typeface="MiSans" charset="-122"/>
              </a:rPr>
              <a:t>更好的提问方式 → 更好的信息组织 → 更好的系统集成 → 更好的自主循环</a:t>
            </a:r>
            <a:endParaRPr lang="en-US" sz="1600" noProof="1"/>
          </a:p>
        </p:txBody>
      </p:sp>
      <p:sp>
        <p:nvSpPr>
          <p:cNvPr id="12" name="summary-line2"/>
          <p:cNvSpPr txBox="1"/>
          <p:nvPr/>
        </p:nvSpPr>
        <p:spPr>
          <a:xfrm>
            <a:off x="4673600" y="4597400"/>
            <a:ext cx="6959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11827"/>
                </a:solidFill>
                <a:latin typeface="MiSans" charset="-122"/>
                <a:ea typeface="MiSans" charset="-122"/>
              </a:rPr>
              <a:t>核心趋势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1F2937"/>
                </a:solidFill>
                <a:latin typeface="MiSans" charset="-122"/>
                <a:ea typeface="MiSans" charset="-122"/>
              </a:rPr>
              <a:t>人逐步退出执行细节，只管目标、边界与判断；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200" noProof="1">
                <a:solidFill>
                  <a:srgbClr val="1F2937"/>
                </a:solidFill>
                <a:latin typeface="MiSans" charset="-122"/>
                <a:ea typeface="MiSans" charset="-122"/>
              </a:rPr>
              <a:t>AI 从“回答者”变成“自我驱动的循环体”。</a:t>
            </a:r>
            <a:endParaRPr lang="en-US" sz="1600" noProof="1"/>
          </a:p>
        </p:txBody>
      </p:sp>
      <p:sp>
        <p:nvSpPr>
          <p:cNvPr id="13" name="summary-line3"/>
          <p:cNvSpPr txBox="1"/>
          <p:nvPr/>
        </p:nvSpPr>
        <p:spPr>
          <a:xfrm>
            <a:off x="4673600" y="5511800"/>
            <a:ext cx="6959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11827"/>
                </a:solidFill>
                <a:latin typeface="MiSans" charset="-122"/>
                <a:ea typeface="MiSans" charset="-122"/>
              </a:rPr>
              <a:t>关键约束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1F2937"/>
                </a:solidFill>
                <a:latin typeface="MiSans" charset="-122"/>
                <a:ea typeface="MiSans" charset="-122"/>
              </a:rPr>
              <a:t>自主 ≠ 放任：每一圈循环都要有事实依据（checkbox）和明确的停止条件。</a:t>
            </a:r>
            <a:endParaRPr lang="en-US" sz="1600" noProof="1"/>
          </a:p>
        </p:txBody>
      </p:sp>
      <p:sp>
        <p:nvSpPr>
          <p:cNvPr id="14" name="accent-1"/>
          <p:cNvSpPr/>
          <p:nvPr/>
        </p:nvSpPr>
        <p:spPr>
          <a:xfrm>
            <a:off x="4419600" y="6578600"/>
            <a:ext cx="18669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accent-2"/>
          <p:cNvSpPr/>
          <p:nvPr/>
        </p:nvSpPr>
        <p:spPr>
          <a:xfrm>
            <a:off x="6286500" y="6578600"/>
            <a:ext cx="1866900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6" name="accent-3"/>
          <p:cNvSpPr/>
          <p:nvPr/>
        </p:nvSpPr>
        <p:spPr>
          <a:xfrm>
            <a:off x="8153400" y="6578600"/>
            <a:ext cx="1866900" cy="50800"/>
          </a:xfrm>
          <a:prstGeom prst="rect">
            <a:avLst/>
          </a:prstGeom>
          <a:solidFill>
            <a:srgbClr val="EA8C1F"/>
          </a:solidFill>
          <a:ln>
            <a:noFill/>
          </a:ln>
        </p:spPr>
      </p:sp>
      <p:sp>
        <p:nvSpPr>
          <p:cNvPr id="17" name="accent-4"/>
          <p:cNvSpPr/>
          <p:nvPr/>
        </p:nvSpPr>
        <p:spPr>
          <a:xfrm>
            <a:off x="10020300" y="6578600"/>
            <a:ext cx="18669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1"/>
          <a:srcRect t="-7143" b="-7143"/>
          <a:stretch>
            <a:fillRect/>
          </a:stretch>
        </p:blipFill>
        <p:spPr>
          <a:xfrm>
            <a:off x="279400" y="381000"/>
            <a:ext cx="5448935" cy="6096000"/>
          </a:xfrm>
          <a:prstGeom prst="roundRect">
            <a:avLst>
              <a:gd name="adj" fmla="val 5000"/>
            </a:avLst>
          </a:prstGeom>
          <a:ln>
            <a:noFill/>
          </a:ln>
          <a:effectLst>
            <a:outerShdw blurRad="177800" dist="63500" dir="5400000" algn="bl" rotWithShape="0">
              <a:srgbClr val="16A34A">
                <a:alpha val="13333"/>
              </a:srgbClr>
            </a:outerShdw>
          </a:effectLst>
        </p:spPr>
      </p:pic>
      <p:sp>
        <p:nvSpPr>
          <p:cNvPr id="3" name="main-image-border"/>
          <p:cNvSpPr/>
          <p:nvPr/>
        </p:nvSpPr>
        <p:spPr>
          <a:xfrm>
            <a:off x="279400" y="381000"/>
            <a:ext cx="5537200" cy="6096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DDEEDD"/>
            </a:solidFill>
          </a:ln>
        </p:spPr>
      </p:sp>
      <p:sp>
        <p:nvSpPr>
          <p:cNvPr id="4" name="title-icon"/>
          <p:cNvSpPr/>
          <p:nvPr/>
        </p:nvSpPr>
        <p:spPr>
          <a:xfrm>
            <a:off x="5918200" y="355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80"/>
                </a:moveTo>
                <a:cubicBezTo>
                  <a:pt x="0" y="54"/>
                  <a:pt x="22" y="32"/>
                  <a:pt x="48" y="32"/>
                </a:cubicBezTo>
                <a:lnTo>
                  <a:pt x="144" y="32"/>
                </a:lnTo>
                <a:cubicBezTo>
                  <a:pt x="171" y="32"/>
                  <a:pt x="192" y="54"/>
                  <a:pt x="192" y="80"/>
                </a:cubicBezTo>
                <a:lnTo>
                  <a:pt x="192" y="96"/>
                </a:lnTo>
                <a:lnTo>
                  <a:pt x="320" y="96"/>
                </a:lnTo>
                <a:lnTo>
                  <a:pt x="320" y="80"/>
                </a:lnTo>
                <a:cubicBezTo>
                  <a:pt x="320" y="54"/>
                  <a:pt x="342" y="32"/>
                  <a:pt x="368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176"/>
                </a:lnTo>
                <a:cubicBezTo>
                  <a:pt x="512" y="203"/>
                  <a:pt x="491" y="224"/>
                  <a:pt x="464" y="224"/>
                </a:cubicBezTo>
                <a:lnTo>
                  <a:pt x="368" y="224"/>
                </a:lnTo>
                <a:cubicBezTo>
                  <a:pt x="342" y="224"/>
                  <a:pt x="320" y="203"/>
                  <a:pt x="320" y="176"/>
                </a:cubicBezTo>
                <a:lnTo>
                  <a:pt x="320" y="160"/>
                </a:lnTo>
                <a:lnTo>
                  <a:pt x="192" y="160"/>
                </a:lnTo>
                <a:lnTo>
                  <a:pt x="192" y="176"/>
                </a:lnTo>
                <a:cubicBezTo>
                  <a:pt x="192" y="183"/>
                  <a:pt x="190" y="190"/>
                  <a:pt x="187" y="197"/>
                </a:cubicBezTo>
                <a:lnTo>
                  <a:pt x="256" y="288"/>
                </a:lnTo>
                <a:lnTo>
                  <a:pt x="336" y="288"/>
                </a:lnTo>
                <a:cubicBezTo>
                  <a:pt x="363" y="288"/>
                  <a:pt x="384" y="310"/>
                  <a:pt x="384" y="336"/>
                </a:cubicBezTo>
                <a:lnTo>
                  <a:pt x="384" y="432"/>
                </a:lnTo>
                <a:cubicBezTo>
                  <a:pt x="384" y="459"/>
                  <a:pt x="363" y="480"/>
                  <a:pt x="336" y="480"/>
                </a:cubicBezTo>
                <a:lnTo>
                  <a:pt x="240" y="480"/>
                </a:lnTo>
                <a:cubicBezTo>
                  <a:pt x="214" y="480"/>
                  <a:pt x="192" y="459"/>
                  <a:pt x="192" y="432"/>
                </a:cubicBezTo>
                <a:lnTo>
                  <a:pt x="192" y="336"/>
                </a:lnTo>
                <a:cubicBezTo>
                  <a:pt x="192" y="329"/>
                  <a:pt x="194" y="322"/>
                  <a:pt x="197" y="316"/>
                </a:cubicBezTo>
                <a:lnTo>
                  <a:pt x="128" y="224"/>
                </a:lnTo>
                <a:lnTo>
                  <a:pt x="48" y="224"/>
                </a:lnTo>
                <a:cubicBezTo>
                  <a:pt x="22" y="224"/>
                  <a:pt x="0" y="203"/>
                  <a:pt x="0" y="176"/>
                </a:cubicBezTo>
                <a:lnTo>
                  <a:pt x="0" y="8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299200" y="3048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Harness 编排：模型之外的核心资产</a:t>
            </a:r>
            <a:endParaRPr lang="en-US" sz="2100" noProof="1"/>
          </a:p>
        </p:txBody>
      </p:sp>
      <p:sp>
        <p:nvSpPr>
          <p:cNvPr id="6" name="point1-card"/>
          <p:cNvSpPr/>
          <p:nvPr/>
        </p:nvSpPr>
        <p:spPr>
          <a:xfrm>
            <a:off x="5918200" y="787400"/>
            <a:ext cx="5969000" cy="711200"/>
          </a:xfrm>
          <a:prstGeom prst="roundRect">
            <a:avLst>
              <a:gd name="adj" fmla="val 9000"/>
            </a:avLst>
          </a:prstGeom>
          <a:solidFill>
            <a:srgbClr val="16A34A"/>
          </a:solidFill>
          <a:ln>
            <a:noFill/>
          </a:ln>
          <a:effectLst>
            <a:outerShdw blurRad="101600" dist="38100" dir="5400000" algn="bl" rotWithShape="0">
              <a:srgbClr val="16A34A">
                <a:alpha val="20000"/>
              </a:srgbClr>
            </a:outerShdw>
          </a:effectLst>
        </p:spPr>
      </p:sp>
      <p:sp>
        <p:nvSpPr>
          <p:cNvPr id="7" name="point1-text"/>
          <p:cNvSpPr txBox="1"/>
          <p:nvPr/>
        </p:nvSpPr>
        <p:spPr>
          <a:xfrm>
            <a:off x="6121400" y="863600"/>
            <a:ext cx="558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模型是租来的，harness 是自己的资产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DCFCE7"/>
                </a:solidFill>
                <a:latin typeface="MiSans" charset="-122"/>
                <a:ea typeface="MiSans" charset="-122"/>
              </a:rPr>
              <a:t>同一个模型，套什么 harness，决定它是聊天机器人还是工程系统</a:t>
            </a:r>
            <a:endParaRPr lang="en-US" sz="1600" noProof="1"/>
          </a:p>
        </p:txBody>
      </p:sp>
      <p:sp>
        <p:nvSpPr>
          <p:cNvPr id="8" name="point2-icon"/>
          <p:cNvSpPr/>
          <p:nvPr/>
        </p:nvSpPr>
        <p:spPr>
          <a:xfrm>
            <a:off x="5918200" y="165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9" name="point2-text"/>
          <p:cNvSpPr txBox="1"/>
          <p:nvPr/>
        </p:nvSpPr>
        <p:spPr>
          <a:xfrm>
            <a:off x="6248400" y="1600200"/>
            <a:ext cx="5638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左侧｜流程控制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提示词定义「它是谁」，Agent / Skill / Plan 定义「按什么分工和流程干活」</a:t>
            </a:r>
            <a:endParaRPr lang="en-US" sz="1600" noProof="1"/>
          </a:p>
        </p:txBody>
      </p:sp>
      <p:sp>
        <p:nvSpPr>
          <p:cNvPr id="10" name="point3-icon"/>
          <p:cNvSpPr/>
          <p:nvPr/>
        </p:nvSpPr>
        <p:spPr>
          <a:xfrm>
            <a:off x="5918200" y="2184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65A30D"/>
          </a:solidFill>
          <a:ln>
            <a:noFill/>
          </a:ln>
        </p:spPr>
      </p:sp>
      <p:sp>
        <p:nvSpPr>
          <p:cNvPr id="11" name="point3-text"/>
          <p:cNvSpPr txBox="1"/>
          <p:nvPr/>
        </p:nvSpPr>
        <p:spPr>
          <a:xfrm>
            <a:off x="6248400" y="2133600"/>
            <a:ext cx="5638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右侧｜工具 + 数据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MCP 给模型「手」去读写世界，Memory 让经验沉淀并回流，系统越用越强</a:t>
            </a:r>
            <a:endParaRPr lang="en-US" sz="1600" noProof="1"/>
          </a:p>
        </p:txBody>
      </p:sp>
      <p:sp>
        <p:nvSpPr>
          <p:cNvPr id="12" name="point4-icon"/>
          <p:cNvSpPr/>
          <p:nvPr/>
        </p:nvSpPr>
        <p:spPr>
          <a:xfrm>
            <a:off x="59182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36" y="128"/>
                </a:moveTo>
                <a:cubicBezTo>
                  <a:pt x="136" y="62"/>
                  <a:pt x="190" y="8"/>
                  <a:pt x="256" y="8"/>
                </a:cubicBezTo>
                <a:cubicBezTo>
                  <a:pt x="322" y="8"/>
                  <a:pt x="376" y="62"/>
                  <a:pt x="376" y="128"/>
                </a:cubicBezTo>
                <a:cubicBezTo>
                  <a:pt x="376" y="194"/>
                  <a:pt x="322" y="248"/>
                  <a:pt x="256" y="248"/>
                </a:cubicBezTo>
                <a:cubicBezTo>
                  <a:pt x="190" y="248"/>
                  <a:pt x="136" y="194"/>
                  <a:pt x="136" y="128"/>
                </a:cubicBezTo>
                <a:close/>
              </a:path>
              <a:path w="640" h="512">
                <a:moveTo>
                  <a:pt x="48" y="482"/>
                </a:moveTo>
                <a:cubicBezTo>
                  <a:pt x="48" y="384"/>
                  <a:pt x="128" y="304"/>
                  <a:pt x="226" y="304"/>
                </a:cubicBezTo>
                <a:lnTo>
                  <a:pt x="286" y="304"/>
                </a:lnTo>
                <a:cubicBezTo>
                  <a:pt x="384" y="304"/>
                  <a:pt x="464" y="384"/>
                  <a:pt x="464" y="482"/>
                </a:cubicBezTo>
                <a:cubicBezTo>
                  <a:pt x="464" y="499"/>
                  <a:pt x="451" y="512"/>
                  <a:pt x="434" y="512"/>
                </a:cubicBezTo>
                <a:lnTo>
                  <a:pt x="78" y="512"/>
                </a:lnTo>
                <a:cubicBezTo>
                  <a:pt x="61" y="512"/>
                  <a:pt x="48" y="499"/>
                  <a:pt x="48" y="482"/>
                </a:cubicBezTo>
                <a:close/>
              </a:path>
              <a:path w="640" h="512">
                <a:moveTo>
                  <a:pt x="612" y="133"/>
                </a:moveTo>
                <a:lnTo>
                  <a:pt x="532" y="261"/>
                </a:lnTo>
                <a:cubicBezTo>
                  <a:pt x="528" y="267"/>
                  <a:pt x="521" y="272"/>
                  <a:pt x="513" y="272"/>
                </a:cubicBezTo>
                <a:cubicBezTo>
                  <a:pt x="505" y="272"/>
                  <a:pt x="498" y="269"/>
                  <a:pt x="493" y="262"/>
                </a:cubicBezTo>
                <a:lnTo>
                  <a:pt x="445" y="198"/>
                </a:lnTo>
                <a:cubicBezTo>
                  <a:pt x="437" y="188"/>
                  <a:pt x="439" y="173"/>
                  <a:pt x="450" y="165"/>
                </a:cubicBezTo>
                <a:cubicBezTo>
                  <a:pt x="460" y="157"/>
                  <a:pt x="475" y="159"/>
                  <a:pt x="483" y="170"/>
                </a:cubicBezTo>
                <a:lnTo>
                  <a:pt x="510" y="206"/>
                </a:lnTo>
                <a:lnTo>
                  <a:pt x="572" y="107"/>
                </a:lnTo>
                <a:cubicBezTo>
                  <a:pt x="579" y="96"/>
                  <a:pt x="594" y="93"/>
                  <a:pt x="605" y="100"/>
                </a:cubicBezTo>
                <a:cubicBezTo>
                  <a:pt x="616" y="107"/>
                  <a:pt x="620" y="122"/>
                  <a:pt x="612" y="133"/>
                </a:cubicBezTo>
                <a:close/>
              </a:path>
            </a:pathLst>
          </a:custGeom>
          <a:solidFill>
            <a:srgbClr val="0D9488"/>
          </a:solidFill>
          <a:ln>
            <a:noFill/>
          </a:ln>
        </p:spPr>
      </p:sp>
      <p:sp>
        <p:nvSpPr>
          <p:cNvPr id="13" name="point4-text"/>
          <p:cNvSpPr txBox="1"/>
          <p:nvPr/>
        </p:nvSpPr>
        <p:spPr>
          <a:xfrm>
            <a:off x="6248400" y="2667000"/>
            <a:ext cx="5638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用户的角色</a:t>
            </a: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：不再推动每一步，只设定目标与边界</a:t>
            </a:r>
            <a:endParaRPr lang="en-US" sz="1600" noProof="1"/>
          </a:p>
        </p:txBody>
      </p:sp>
      <p:sp>
        <p:nvSpPr>
          <p:cNvPr id="14" name="table-title-icon"/>
          <p:cNvSpPr/>
          <p:nvPr/>
        </p:nvSpPr>
        <p:spPr>
          <a:xfrm>
            <a:off x="5918200" y="312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4" y="-1"/>
                </a:moveTo>
                <a:cubicBezTo>
                  <a:pt x="267" y="-11"/>
                  <a:pt x="245" y="-11"/>
                  <a:pt x="228" y="-1"/>
                </a:cubicBezTo>
                <a:lnTo>
                  <a:pt x="144" y="47"/>
                </a:lnTo>
                <a:cubicBezTo>
                  <a:pt x="127" y="57"/>
                  <a:pt x="116" y="76"/>
                  <a:pt x="116" y="96"/>
                </a:cubicBezTo>
                <a:lnTo>
                  <a:pt x="116" y="198"/>
                </a:lnTo>
                <a:lnTo>
                  <a:pt x="28" y="249"/>
                </a:lnTo>
                <a:cubicBezTo>
                  <a:pt x="10" y="259"/>
                  <a:pt x="0" y="277"/>
                  <a:pt x="0" y="297"/>
                </a:cubicBezTo>
                <a:lnTo>
                  <a:pt x="0" y="395"/>
                </a:lnTo>
                <a:cubicBezTo>
                  <a:pt x="0" y="415"/>
                  <a:pt x="10" y="433"/>
                  <a:pt x="28" y="443"/>
                </a:cubicBezTo>
                <a:lnTo>
                  <a:pt x="112" y="492"/>
                </a:lnTo>
                <a:cubicBezTo>
                  <a:pt x="129" y="502"/>
                  <a:pt x="151" y="502"/>
                  <a:pt x="168" y="492"/>
                </a:cubicBezTo>
                <a:lnTo>
                  <a:pt x="256" y="441"/>
                </a:lnTo>
                <a:lnTo>
                  <a:pt x="344" y="492"/>
                </a:lnTo>
                <a:cubicBezTo>
                  <a:pt x="362" y="502"/>
                  <a:pt x="383" y="502"/>
                  <a:pt x="400" y="492"/>
                </a:cubicBezTo>
                <a:lnTo>
                  <a:pt x="485" y="443"/>
                </a:lnTo>
                <a:cubicBezTo>
                  <a:pt x="502" y="433"/>
                  <a:pt x="513" y="415"/>
                  <a:pt x="513" y="395"/>
                </a:cubicBezTo>
                <a:lnTo>
                  <a:pt x="513" y="297"/>
                </a:lnTo>
                <a:cubicBezTo>
                  <a:pt x="513" y="277"/>
                  <a:pt x="502" y="259"/>
                  <a:pt x="485" y="249"/>
                </a:cubicBezTo>
                <a:lnTo>
                  <a:pt x="396" y="198"/>
                </a:lnTo>
                <a:lnTo>
                  <a:pt x="396" y="96"/>
                </a:lnTo>
                <a:cubicBezTo>
                  <a:pt x="396" y="76"/>
                  <a:pt x="386" y="57"/>
                  <a:pt x="368" y="47"/>
                </a:cubicBezTo>
                <a:lnTo>
                  <a:pt x="284" y="-1"/>
                </a:lnTo>
                <a:close/>
                <a:moveTo>
                  <a:pt x="232" y="293"/>
                </a:moveTo>
                <a:lnTo>
                  <a:pt x="232" y="399"/>
                </a:lnTo>
                <a:lnTo>
                  <a:pt x="144" y="450"/>
                </a:lnTo>
                <a:cubicBezTo>
                  <a:pt x="143" y="451"/>
                  <a:pt x="141" y="451"/>
                  <a:pt x="140" y="451"/>
                </a:cubicBezTo>
                <a:lnTo>
                  <a:pt x="140" y="346"/>
                </a:lnTo>
                <a:lnTo>
                  <a:pt x="232" y="293"/>
                </a:lnTo>
                <a:close/>
                <a:moveTo>
                  <a:pt x="463" y="293"/>
                </a:moveTo>
                <a:cubicBezTo>
                  <a:pt x="464" y="294"/>
                  <a:pt x="465" y="296"/>
                  <a:pt x="465" y="297"/>
                </a:cubicBezTo>
                <a:lnTo>
                  <a:pt x="465" y="395"/>
                </a:lnTo>
                <a:cubicBezTo>
                  <a:pt x="465" y="397"/>
                  <a:pt x="463" y="400"/>
                  <a:pt x="461" y="401"/>
                </a:cubicBezTo>
                <a:lnTo>
                  <a:pt x="376" y="450"/>
                </a:lnTo>
                <a:cubicBezTo>
                  <a:pt x="375" y="451"/>
                  <a:pt x="374" y="451"/>
                  <a:pt x="372" y="451"/>
                </a:cubicBezTo>
                <a:lnTo>
                  <a:pt x="372" y="346"/>
                </a:lnTo>
                <a:lnTo>
                  <a:pt x="463" y="293"/>
                </a:lnTo>
                <a:close/>
                <a:moveTo>
                  <a:pt x="348" y="96"/>
                </a:moveTo>
                <a:lnTo>
                  <a:pt x="348" y="198"/>
                </a:lnTo>
                <a:lnTo>
                  <a:pt x="256" y="251"/>
                </a:lnTo>
                <a:lnTo>
                  <a:pt x="256" y="145"/>
                </a:lnTo>
                <a:lnTo>
                  <a:pt x="347" y="92"/>
                </a:lnTo>
                <a:cubicBezTo>
                  <a:pt x="348" y="93"/>
                  <a:pt x="348" y="95"/>
                  <a:pt x="348" y="96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15" name="table-title"/>
          <p:cNvSpPr txBox="1"/>
          <p:nvPr/>
        </p:nvSpPr>
        <p:spPr>
          <a:xfrm>
            <a:off x="6197600" y="3073400"/>
            <a:ext cx="5689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我们的具体落地</a:t>
            </a:r>
            <a:endParaRPr lang="en-US" sz="1400" noProof="1"/>
          </a:p>
        </p:txBody>
      </p:sp>
      <p:graphicFrame>
        <p:nvGraphicFramePr>
          <p:cNvPr id="16" name="landing-table"/>
          <p:cNvGraphicFramePr>
            <a:graphicFrameLocks noGrp="1"/>
          </p:cNvGraphicFramePr>
          <p:nvPr/>
        </p:nvGraphicFramePr>
        <p:xfrm>
          <a:off x="5918200" y="3454400"/>
          <a:ext cx="5969000" cy="2997200"/>
        </p:xfrm>
        <a:graphic>
          <a:graphicData uri="http://schemas.openxmlformats.org/drawingml/2006/table">
            <a:tbl>
              <a:tblPr/>
              <a:tblGrid>
                <a:gridCol w="1014730"/>
                <a:gridCol w="4954270"/>
              </a:tblGrid>
              <a:tr h="359664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组件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实例</a:t>
                      </a:r>
                      <a:endParaRPr lang="en-US" sz="1150" b="1" noProof="1">
                        <a:solidFill>
                          <a:srgbClr val="FFFFFF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989076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14532D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MCP</a:t>
                      </a:r>
                      <a:endParaRPr lang="en-US" sz="1050" b="1" noProof="1">
                        <a:solidFill>
                          <a:srgbClr val="14532D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MySQL MCP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：模型主动连数据库查询/验证数据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Redis MCP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：直连缓存中间件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Playwright MCP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：让 agent 控制浏览器执行端到端测试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14532D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Skill</a:t>
                      </a:r>
                      <a:endParaRPr lang="en-US" sz="1050" b="1" noProof="1">
                        <a:solidFill>
                          <a:srgbClr val="14532D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4FAF5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代码规范 skill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：团队编码规范打包，生成代码时按需加载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yo-vitest skill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：前端测试指南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4FAF5"/>
                    </a:solidFill>
                  </a:tcPr>
                </a:tc>
              </a:tr>
              <a:tr h="929132">
                <a:tc>
                  <a:txBody>
                    <a:bodyPr wrap="square" rtlCol="0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14532D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Agent</a:t>
                      </a:r>
                      <a:endParaRPr lang="en-US" sz="1050" b="1" noProof="1">
                        <a:solidFill>
                          <a:srgbClr val="14532D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050" b="1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按应用技术栈配不同 agent</a:t>
                      </a:r>
                      <a:r>
                        <a:rPr lang="en-US" sz="1050" noProof="1">
                          <a:solidFill>
                            <a:srgbClr val="374151"/>
                          </a:solidFill>
                          <a:latin typeface="Times New Roman" panose="02020503050405090304"/>
                          <a:ea typeface="Times New Roman" panose="02020503050405090304"/>
                        </a:rPr>
                        <a:t>：前端 agent、后端 Java agent、后端 Python agent，各自带对应的技术底座与规范，构建不同应用时选用</a:t>
                      </a:r>
                      <a:endParaRPr lang="en-US" sz="1050" noProof="1">
                        <a:solidFill>
                          <a:srgbClr val="37415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E3EFE5"/>
                      </a:solidFill>
                    </a:lnT>
                    <a:lnB w="12700">
                      <a:solidFill>
                        <a:srgbClr val="E3EF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原协同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5" y="0"/>
            <a:ext cx="1035875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imeng-2026-08-04-5599-flowchart-elk TD     H1[_👤 人工_br__提出需求 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275" y="0"/>
            <a:ext cx="9144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代码开发流程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jimeng-2026-08-04-5613-flowchart-elk TD     Prev([_来自阶段二：开发完成_]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-image"/>
          <p:cNvPicPr/>
          <p:nvPr/>
        </p:nvPicPr>
        <p:blipFill>
          <a:blip r:embed="rId1"/>
          <a:srcRect t="-7143" b="-7143"/>
          <a:stretch>
            <a:fillRect/>
          </a:stretch>
        </p:blipFill>
        <p:spPr>
          <a:xfrm>
            <a:off x="279400" y="381000"/>
            <a:ext cx="5334000" cy="6096000"/>
          </a:xfrm>
          <a:prstGeom prst="roundRect">
            <a:avLst>
              <a:gd name="adj" fmla="val 5000"/>
            </a:avLst>
          </a:prstGeom>
          <a:ln>
            <a:noFill/>
          </a:ln>
          <a:effectLst>
            <a:outerShdw blurRad="177800" dist="63500" dir="5400000" algn="bl" rotWithShape="0">
              <a:srgbClr val="16A34A">
                <a:alpha val="13333"/>
              </a:srgbClr>
            </a:outerShdw>
          </a:effectLst>
        </p:spPr>
      </p:pic>
      <p:sp>
        <p:nvSpPr>
          <p:cNvPr id="3" name="main-image-border"/>
          <p:cNvSpPr/>
          <p:nvPr/>
        </p:nvSpPr>
        <p:spPr>
          <a:xfrm>
            <a:off x="279400" y="381000"/>
            <a:ext cx="5334000" cy="6096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DDEEDD"/>
            </a:solidFill>
          </a:ln>
        </p:spPr>
      </p:sp>
      <p:sp>
        <p:nvSpPr>
          <p:cNvPr id="4" name="title-icon"/>
          <p:cNvSpPr/>
          <p:nvPr/>
        </p:nvSpPr>
        <p:spPr>
          <a:xfrm>
            <a:off x="5943600" y="40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32" y="14"/>
                  <a:pt x="46" y="0"/>
                  <a:pt x="64" y="0"/>
                </a:cubicBezTo>
                <a:lnTo>
                  <a:pt x="288" y="0"/>
                </a:lnTo>
                <a:cubicBezTo>
                  <a:pt x="306" y="0"/>
                  <a:pt x="320" y="14"/>
                  <a:pt x="320" y="32"/>
                </a:cubicBezTo>
                <a:cubicBezTo>
                  <a:pt x="320" y="50"/>
                  <a:pt x="306" y="64"/>
                  <a:pt x="288" y="64"/>
                </a:cubicBezTo>
                <a:lnTo>
                  <a:pt x="288" y="225"/>
                </a:lnTo>
                <a:cubicBezTo>
                  <a:pt x="222" y="256"/>
                  <a:pt x="176" y="323"/>
                  <a:pt x="176" y="400"/>
                </a:cubicBezTo>
                <a:cubicBezTo>
                  <a:pt x="176" y="440"/>
                  <a:pt x="188" y="477"/>
                  <a:pt x="209" y="507"/>
                </a:cubicBezTo>
                <a:cubicBezTo>
                  <a:pt x="198" y="510"/>
                  <a:pt x="187" y="512"/>
                  <a:pt x="176" y="512"/>
                </a:cubicBezTo>
                <a:cubicBezTo>
                  <a:pt x="114" y="512"/>
                  <a:pt x="64" y="462"/>
                  <a:pt x="64" y="400"/>
                </a:cubicBezTo>
                <a:lnTo>
                  <a:pt x="64" y="64"/>
                </a:lnTo>
                <a:cubicBezTo>
                  <a:pt x="46" y="64"/>
                  <a:pt x="32" y="50"/>
                  <a:pt x="32" y="32"/>
                </a:cubicBezTo>
                <a:close/>
                <a:moveTo>
                  <a:pt x="128" y="64"/>
                </a:moveTo>
                <a:lnTo>
                  <a:pt x="128" y="192"/>
                </a:lnTo>
                <a:lnTo>
                  <a:pt x="224" y="192"/>
                </a:lnTo>
                <a:lnTo>
                  <a:pt x="224" y="64"/>
                </a:lnTo>
                <a:lnTo>
                  <a:pt x="128" y="64"/>
                </a:lnTo>
                <a:close/>
              </a:path>
              <a:path w="512" h="512">
                <a:moveTo>
                  <a:pt x="224" y="400"/>
                </a:moveTo>
                <a:cubicBezTo>
                  <a:pt x="224" y="320"/>
                  <a:pt x="288" y="256"/>
                  <a:pt x="368" y="256"/>
                </a:cubicBezTo>
                <a:cubicBezTo>
                  <a:pt x="448" y="256"/>
                  <a:pt x="512" y="320"/>
                  <a:pt x="512" y="400"/>
                </a:cubicBezTo>
                <a:cubicBezTo>
                  <a:pt x="512" y="480"/>
                  <a:pt x="448" y="544"/>
                  <a:pt x="368" y="544"/>
                </a:cubicBezTo>
                <a:cubicBezTo>
                  <a:pt x="288" y="544"/>
                  <a:pt x="224" y="480"/>
                  <a:pt x="224" y="400"/>
                </a:cubicBezTo>
                <a:close/>
                <a:moveTo>
                  <a:pt x="425" y="339"/>
                </a:moveTo>
                <a:cubicBezTo>
                  <a:pt x="418" y="334"/>
                  <a:pt x="408" y="336"/>
                  <a:pt x="403" y="343"/>
                </a:cubicBezTo>
                <a:lnTo>
                  <a:pt x="350" y="416"/>
                </a:lnTo>
                <a:lnTo>
                  <a:pt x="323" y="389"/>
                </a:lnTo>
                <a:cubicBezTo>
                  <a:pt x="317" y="383"/>
                  <a:pt x="307" y="383"/>
                  <a:pt x="301" y="389"/>
                </a:cubicBezTo>
                <a:cubicBezTo>
                  <a:pt x="294" y="395"/>
                  <a:pt x="294" y="405"/>
                  <a:pt x="301" y="411"/>
                </a:cubicBezTo>
                <a:lnTo>
                  <a:pt x="341" y="451"/>
                </a:lnTo>
                <a:cubicBezTo>
                  <a:pt x="344" y="455"/>
                  <a:pt x="348" y="456"/>
                  <a:pt x="353" y="456"/>
                </a:cubicBezTo>
                <a:cubicBezTo>
                  <a:pt x="358" y="456"/>
                  <a:pt x="362" y="453"/>
                  <a:pt x="365" y="449"/>
                </a:cubicBezTo>
                <a:lnTo>
                  <a:pt x="429" y="361"/>
                </a:lnTo>
                <a:cubicBezTo>
                  <a:pt x="434" y="354"/>
                  <a:pt x="433" y="344"/>
                  <a:pt x="425" y="339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350000" y="355600"/>
            <a:ext cx="55372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小功能开发流程（dev-sm）</a:t>
            </a:r>
            <a:endParaRPr lang="en-US" sz="2200" noProof="1"/>
          </a:p>
        </p:txBody>
      </p:sp>
      <p:sp>
        <p:nvSpPr>
          <p:cNvPr id="6" name="subtitle"/>
          <p:cNvSpPr txBox="1"/>
          <p:nvPr/>
        </p:nvSpPr>
        <p:spPr>
          <a:xfrm>
            <a:off x="5943600" y="8128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按 </a:t>
            </a:r>
            <a:r>
              <a:rPr lang="en-US" sz="1200" b="1" noProof="1">
                <a:solidFill>
                  <a:srgbClr val="4B5563"/>
                </a:solidFill>
                <a:latin typeface="MiSans" charset="-122"/>
                <a:ea typeface="MiSans" charset="-122"/>
              </a:rPr>
              <a:t>TDD</a:t>
            </a:r>
            <a:r>
              <a:rPr lang="en-US" sz="120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 方式开发小功能的轻量流程：</a:t>
            </a:r>
            <a:r>
              <a:rPr lang="en-US" sz="1200" b="1" noProof="1">
                <a:solidFill>
                  <a:srgbClr val="4B5563"/>
                </a:solidFill>
                <a:latin typeface="MiSans" charset="-122"/>
                <a:ea typeface="MiSans" charset="-122"/>
              </a:rPr>
              <a:t>先写测试，再实现功能</a:t>
            </a:r>
            <a:r>
              <a:rPr lang="en-US" sz="120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。</a:t>
            </a:r>
            <a:endParaRPr lang="en-US" sz="12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人工只需在开始时选择执行的 agent，其余全部由 subagent 完成。</a:t>
            </a:r>
            <a:endParaRPr lang="en-US" sz="1200" noProof="1"/>
          </a:p>
        </p:txBody>
      </p:sp>
      <p:sp>
        <p:nvSpPr>
          <p:cNvPr id="7" name="step1-card"/>
          <p:cNvSpPr/>
          <p:nvPr/>
        </p:nvSpPr>
        <p:spPr>
          <a:xfrm>
            <a:off x="5943600" y="1397000"/>
            <a:ext cx="5943600" cy="127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F0E2"/>
            </a:solidFill>
          </a:ln>
          <a:effectLst>
            <a:outerShdw blurRad="101600" dist="38100" dir="5400000" algn="bl" rotWithShape="0">
              <a:srgbClr val="16A34A">
                <a:alpha val="7843"/>
              </a:srgbClr>
            </a:outerShdw>
          </a:effectLst>
        </p:spPr>
      </p:sp>
      <p:sp>
        <p:nvSpPr>
          <p:cNvPr id="8" name="step1-badge"/>
          <p:cNvSpPr/>
          <p:nvPr/>
        </p:nvSpPr>
        <p:spPr>
          <a:xfrm>
            <a:off x="6146800" y="1600200"/>
            <a:ext cx="381000" cy="381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9" name="step1-num"/>
          <p:cNvSpPr txBox="1"/>
          <p:nvPr/>
        </p:nvSpPr>
        <p:spPr>
          <a:xfrm>
            <a:off x="6146800" y="16002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</a:t>
            </a:r>
            <a:endParaRPr lang="en-US" sz="1500" noProof="1"/>
          </a:p>
        </p:txBody>
      </p:sp>
      <p:sp>
        <p:nvSpPr>
          <p:cNvPr id="10" name="step1-title"/>
          <p:cNvSpPr txBox="1"/>
          <p:nvPr/>
        </p:nvSpPr>
        <p:spPr>
          <a:xfrm>
            <a:off x="6680200" y="1549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选择 Agent</a:t>
            </a:r>
            <a:r>
              <a:rPr lang="en-US" sz="1100" b="1" noProof="1">
                <a:solidFill>
                  <a:srgbClr val="9CA3AF"/>
                </a:solidFill>
                <a:latin typeface="MiSans" charset="-122"/>
                <a:ea typeface="MiSans" charset="-122"/>
              </a:rPr>
              <a:t>　人工唯一介入点</a:t>
            </a:r>
            <a:endParaRPr lang="en-US" sz="1500" noProof="1"/>
          </a:p>
        </p:txBody>
      </p:sp>
      <p:sp>
        <p:nvSpPr>
          <p:cNvPr id="11" name="step1-body"/>
          <p:cNvSpPr txBox="1"/>
          <p:nvPr/>
        </p:nvSpPr>
        <p:spPr>
          <a:xfrm>
            <a:off x="6680200" y="190500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列出可用 agent 供用户选择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涉及前后端开发时，分别选择前端 / 后端 agent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选项末位为系统默认 agent（无可用 agent 时使用）</a:t>
            </a:r>
            <a:endParaRPr lang="en-US" sz="1150" noProof="1"/>
          </a:p>
        </p:txBody>
      </p:sp>
      <p:sp>
        <p:nvSpPr>
          <p:cNvPr id="12" name="arrow-1"/>
          <p:cNvSpPr/>
          <p:nvPr/>
        </p:nvSpPr>
        <p:spPr>
          <a:xfrm>
            <a:off x="8763000" y="27178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13" name="step2-card"/>
          <p:cNvSpPr/>
          <p:nvPr/>
        </p:nvSpPr>
        <p:spPr>
          <a:xfrm>
            <a:off x="5943600" y="2946400"/>
            <a:ext cx="59436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F0E2"/>
            </a:solidFill>
          </a:ln>
          <a:effectLst>
            <a:outerShdw blurRad="101600" dist="38100" dir="5400000" algn="bl" rotWithShape="0">
              <a:srgbClr val="16A34A">
                <a:alpha val="7843"/>
              </a:srgbClr>
            </a:outerShdw>
          </a:effectLst>
        </p:spPr>
      </p:sp>
      <p:sp>
        <p:nvSpPr>
          <p:cNvPr id="14" name="step2-badge"/>
          <p:cNvSpPr/>
          <p:nvPr/>
        </p:nvSpPr>
        <p:spPr>
          <a:xfrm>
            <a:off x="6146800" y="3149600"/>
            <a:ext cx="381000" cy="381000"/>
          </a:xfrm>
          <a:prstGeom prst="ellipse">
            <a:avLst/>
          </a:prstGeom>
          <a:solidFill>
            <a:srgbClr val="65A30D"/>
          </a:solidFill>
          <a:ln>
            <a:noFill/>
          </a:ln>
        </p:spPr>
      </p:sp>
      <p:sp>
        <p:nvSpPr>
          <p:cNvPr id="15" name="step2-num"/>
          <p:cNvSpPr txBox="1"/>
          <p:nvPr/>
        </p:nvSpPr>
        <p:spPr>
          <a:xfrm>
            <a:off x="6146800" y="3149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2</a:t>
            </a:r>
            <a:endParaRPr lang="en-US" sz="1500" noProof="1"/>
          </a:p>
        </p:txBody>
      </p:sp>
      <p:sp>
        <p:nvSpPr>
          <p:cNvPr id="16" name="step2-title"/>
          <p:cNvSpPr txBox="1"/>
          <p:nvPr/>
        </p:nvSpPr>
        <p:spPr>
          <a:xfrm>
            <a:off x="6680200" y="30988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构建测试用例</a:t>
            </a:r>
            <a:r>
              <a:rPr lang="en-US" sz="1100" b="1" noProof="1">
                <a:solidFill>
                  <a:srgbClr val="9CA3AF"/>
                </a:solidFill>
                <a:latin typeface="MiSans" charset="-122"/>
                <a:ea typeface="MiSans" charset="-122"/>
              </a:rPr>
              <a:t>　subagent 编写</a:t>
            </a:r>
            <a:endParaRPr lang="en-US" sz="1500" noProof="1"/>
          </a:p>
        </p:txBody>
      </p:sp>
      <p:sp>
        <p:nvSpPr>
          <p:cNvPr id="17" name="step2-body"/>
          <p:cNvSpPr txBox="1"/>
          <p:nvPr/>
        </p:nvSpPr>
        <p:spPr>
          <a:xfrm>
            <a:off x="6680200" y="3454400"/>
            <a:ext cx="50292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将需求（含功能点文件位置、代码关系）告知 subagent，由其编写测试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测试用例覆盖所有新功能点，一般放在项目 </a:t>
            </a:r>
            <a:r>
              <a:rPr lang="en-US" sz="1150" b="1" noProof="1">
                <a:solidFill>
                  <a:srgbClr val="16A34A"/>
                </a:solidFill>
                <a:latin typeface="MiSans" charset="-122"/>
                <a:ea typeface="MiSans" charset="-122"/>
              </a:rPr>
              <a:t>test</a:t>
            </a: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 目录下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前端默认只对方法测试，不涉及 UI 操作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如需界面测试：先构建测试验收 md 清单，再用浏览器工具（kimi-webbridge / playwright 等）逐项操作并打勾</a:t>
            </a:r>
            <a:endParaRPr lang="en-US" sz="1150" noProof="1"/>
          </a:p>
        </p:txBody>
      </p:sp>
      <p:sp>
        <p:nvSpPr>
          <p:cNvPr id="18" name="arrow-2"/>
          <p:cNvSpPr/>
          <p:nvPr/>
        </p:nvSpPr>
        <p:spPr>
          <a:xfrm>
            <a:off x="8763000" y="49022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19" name="step3-card"/>
          <p:cNvSpPr/>
          <p:nvPr/>
        </p:nvSpPr>
        <p:spPr>
          <a:xfrm>
            <a:off x="5943600" y="5130800"/>
            <a:ext cx="5943600" cy="939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F0E2"/>
            </a:solidFill>
          </a:ln>
          <a:effectLst>
            <a:outerShdw blurRad="101600" dist="38100" dir="5400000" algn="bl" rotWithShape="0">
              <a:srgbClr val="16A34A">
                <a:alpha val="7843"/>
              </a:srgbClr>
            </a:outerShdw>
          </a:effectLst>
        </p:spPr>
      </p:sp>
      <p:sp>
        <p:nvSpPr>
          <p:cNvPr id="20" name="step3-badge"/>
          <p:cNvSpPr/>
          <p:nvPr/>
        </p:nvSpPr>
        <p:spPr>
          <a:xfrm>
            <a:off x="6146800" y="5308600"/>
            <a:ext cx="381000" cy="381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21" name="step3-num"/>
          <p:cNvSpPr txBox="1"/>
          <p:nvPr/>
        </p:nvSpPr>
        <p:spPr>
          <a:xfrm>
            <a:off x="6146800" y="530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3</a:t>
            </a:r>
            <a:endParaRPr lang="en-US" sz="1500" noProof="1"/>
          </a:p>
        </p:txBody>
      </p:sp>
      <p:sp>
        <p:nvSpPr>
          <p:cNvPr id="22" name="step3-title"/>
          <p:cNvSpPr txBox="1"/>
          <p:nvPr/>
        </p:nvSpPr>
        <p:spPr>
          <a:xfrm>
            <a:off x="6680200" y="5232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14532D"/>
                </a:solidFill>
                <a:latin typeface="MiSans" charset="-122"/>
                <a:ea typeface="MiSans" charset="-122"/>
              </a:rPr>
              <a:t>实现功能</a:t>
            </a:r>
            <a:r>
              <a:rPr lang="en-US" sz="1100" b="1" noProof="1">
                <a:solidFill>
                  <a:srgbClr val="9CA3AF"/>
                </a:solidFill>
                <a:latin typeface="MiSans" charset="-122"/>
                <a:ea typeface="MiSans" charset="-122"/>
              </a:rPr>
              <a:t>　subagent 开发</a:t>
            </a:r>
            <a:endParaRPr lang="en-US" sz="1500" noProof="1"/>
          </a:p>
        </p:txBody>
      </p:sp>
      <p:sp>
        <p:nvSpPr>
          <p:cNvPr id="23" name="step3-body"/>
          <p:cNvSpPr txBox="1"/>
          <p:nvPr/>
        </p:nvSpPr>
        <p:spPr>
          <a:xfrm>
            <a:off x="6680200" y="5562600"/>
            <a:ext cx="5029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代码简洁、可复用、可维护、可拓展</a:t>
            </a:r>
            <a:endParaRPr lang="en-US" sz="1150" noProof="1"/>
          </a:p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B5563"/>
                </a:solidFill>
                <a:latin typeface="MiSans" charset="-122"/>
                <a:ea typeface="MiSans" charset="-122"/>
              </a:rPr>
              <a:t>· 通过此前的全部测试用例 / 测试清单后方可交付</a:t>
            </a:r>
            <a:endParaRPr lang="en-US" sz="1150" noProof="1"/>
          </a:p>
        </p:txBody>
      </p:sp>
      <p:sp>
        <p:nvSpPr>
          <p:cNvPr id="24" name="tip-bar"/>
          <p:cNvSpPr/>
          <p:nvPr/>
        </p:nvSpPr>
        <p:spPr>
          <a:xfrm>
            <a:off x="5943600" y="6223000"/>
            <a:ext cx="5943600" cy="4318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5" name="tip-icon"/>
          <p:cNvSpPr/>
          <p:nvPr/>
        </p:nvSpPr>
        <p:spPr>
          <a:xfrm>
            <a:off x="6146800" y="6337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6" name="tip-text"/>
          <p:cNvSpPr txBox="1"/>
          <p:nvPr/>
        </p:nvSpPr>
        <p:spPr>
          <a:xfrm>
            <a:off x="6451600" y="62230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166534"/>
                </a:solidFill>
                <a:latin typeface="MiSans" charset="-122"/>
                <a:ea typeface="MiSans" charset="-122"/>
              </a:rPr>
              <a:t>subagent 完成后只返回</a:t>
            </a:r>
            <a:r>
              <a:rPr lang="en-US" sz="1150" b="1" noProof="1">
                <a:solidFill>
                  <a:srgbClr val="166534"/>
                </a:solidFill>
                <a:latin typeface="MiSans" charset="-122"/>
                <a:ea typeface="MiSans" charset="-122"/>
              </a:rPr>
              <a:t>简要总结</a:t>
            </a:r>
            <a:r>
              <a:rPr lang="en-US" sz="1150" noProof="1">
                <a:solidFill>
                  <a:srgbClr val="166534"/>
                </a:solidFill>
                <a:latin typeface="MiSans" charset="-122"/>
                <a:ea typeface="MiSans" charset="-122"/>
              </a:rPr>
              <a:t>，不返回执行过程</a:t>
            </a:r>
            <a:endParaRPr lang="en-US" sz="1150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</Words>
  <Application>WPS 表格</Application>
  <PresentationFormat>宽屏</PresentationFormat>
  <Paragraphs>91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MiSans</vt:lpstr>
      <vt:lpstr>苹方-简</vt:lpstr>
      <vt:lpstr>Times New Roman</vt:lpstr>
      <vt:lpstr>微软雅黑</vt:lpstr>
      <vt:lpstr>方正雅意黑 GB18030L2</vt:lpstr>
      <vt:lpstr>宋体</vt:lpstr>
      <vt:lpstr>Arial Unicode MS</vt:lpstr>
      <vt:lpstr>MiSans</vt:lpstr>
      <vt:lpstr>Times New Roman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momo</cp:lastModifiedBy>
  <cp:revision>165</cp:revision>
  <dcterms:created xsi:type="dcterms:W3CDTF">2026-08-04T05:34:58Z</dcterms:created>
  <dcterms:modified xsi:type="dcterms:W3CDTF">2026-08-04T05:34:58Z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BCD2CC1499FAD974156B716A3B45EE2D_41</vt:lpwstr>
  </property>
</Properties>
</file>